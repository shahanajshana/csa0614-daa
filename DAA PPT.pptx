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665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https://image.slidesharecdn.com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Theorem Application For Logarithmic Combine Cost</a:t>
            </a:r>
            <a:endParaRPr lang="en-US" sz="30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6995160" y="4191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SHAHANAJ. C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192372292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1"/>
              <p:cNvSpPr/>
              <p:nvPr/>
            </p:nvSpPr>
            <p:spPr>
              <a:xfrm>
                <a:off x="457200" y="1143000"/>
                <a:ext cx="7981950" cy="32004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given recurrence relation is: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=2</m:t>
                      </m:r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  <m:r>
                            <a:rPr lang="en-IN"/>
                            <m:t>/2</m:t>
                          </m:r>
                        </m:e>
                      </m:d>
                      <m:r>
                        <a:rPr lang="en-IN"/>
                        <m:t>+</m:t>
                      </m:r>
                      <m:func>
                        <m:funcPr>
                          <m:ctrlPr>
                            <a:rPr lang="en-IN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/>
                            <m:t>log</m:t>
                          </m:r>
                        </m:fName>
                        <m:e>
                          <m:r>
                            <a:rPr lang="en-IN" i="1"/>
                            <m:t>𝑛</m:t>
                          </m:r>
                        </m:e>
                      </m:func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means that the problem is divided into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equal subproblems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each of size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n/2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solving these subproblems, the algorithm performs an additional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amount of work.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 objective is to identify the Master Theorem parameters, determine which case applies, and find the overall time complexity.</a:t>
                </a:r>
              </a:p>
            </p:txBody>
          </p:sp>
        </mc:Choice>
        <mc:Fallback>
          <p:sp>
            <p:nvSpPr>
              <p:cNvPr id="5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43000"/>
                <a:ext cx="7981950" cy="3200400"/>
              </a:xfrm>
              <a:prstGeom prst="rect">
                <a:avLst/>
              </a:prstGeom>
              <a:blipFill>
                <a:blip r:embed="rId3"/>
                <a:stretch>
                  <a:fillRect l="-306" t="-571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1"/>
              <p:cNvSpPr/>
              <p:nvPr/>
            </p:nvSpPr>
            <p:spPr>
              <a:xfrm>
                <a:off x="457200" y="1142999"/>
                <a:ext cx="8322733" cy="3623733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Master Theorem is used to solve recurrence relations of the form: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𝑎𝑇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  <m:r>
                            <a:rPr lang="en-IN"/>
                            <m:t>/</m:t>
                          </m:r>
                          <m:r>
                            <a:rPr lang="en-IN" i="1"/>
                            <m:t>𝑏</m:t>
                          </m:r>
                        </m:e>
                      </m:d>
                      <m:r>
                        <a:rPr lang="en-IN"/>
                        <m:t>+</m:t>
                      </m:r>
                      <m:r>
                        <a:rPr lang="en-IN" i="1"/>
                        <m:t>𝑓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compare our recurrence with this standard form.</a:t>
                </a: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our problem:</a:t>
                </a: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because there are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recursive calls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because each recursive call receives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half of the input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f(n) = log 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because the extra work after recursion is logarithmic. </a:t>
                </a: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Next, we calculate: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/>
                          </m:ctrlPr>
                        </m:sSupPr>
                        <m:e>
                          <m:r>
                            <a:rPr lang="en-IN" i="1"/>
                            <m:t>𝑛</m:t>
                          </m:r>
                        </m:e>
                        <m:sup>
                          <m:sSub>
                            <m:sSubPr>
                              <m:ctrlPr>
                                <a:rPr lang="en-IN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/>
                                <m:t>log</m:t>
                              </m:r>
                            </m:e>
                            <m:sub>
                              <m:r>
                                <a:rPr lang="en-IN" i="1"/>
                                <m:t>𝑏</m:t>
                              </m:r>
                            </m:sub>
                          </m:sSub>
                          <m:r>
                            <a:rPr lang="en-IN" i="1"/>
                            <m:t>𝑎</m:t>
                          </m:r>
                        </m:sup>
                      </m:sSup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Substituting the values: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/>
                          </m:ctrlPr>
                        </m:sSupPr>
                        <m:e>
                          <m:r>
                            <a:rPr lang="en-IN" i="1"/>
                            <m:t>𝑛</m:t>
                          </m:r>
                        </m:e>
                        <m:sup>
                          <m:sSub>
                            <m:sSubPr>
                              <m:ctrlPr>
                                <a:rPr lang="en-IN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/>
                                <m:t>log</m:t>
                              </m:r>
                            </m:e>
                            <m:sub>
                              <m:r>
                                <a:rPr lang="en-IN"/>
                                <m:t>2</m:t>
                              </m:r>
                            </m:sub>
                          </m:sSub>
                          <m:r>
                            <a:rPr lang="en-IN"/>
                            <m:t>2</m:t>
                          </m:r>
                        </m:sup>
                      </m:sSup>
                      <m:r>
                        <a:rPr lang="en-IN"/>
                        <m:t>=</m:t>
                      </m:r>
                      <m:sSup>
                        <m:sSupPr>
                          <m:ctrlPr>
                            <a:rPr lang="en-IN" i="1"/>
                          </m:ctrlPr>
                        </m:sSupPr>
                        <m:e>
                          <m:r>
                            <a:rPr lang="en-IN" i="1"/>
                            <m:t>𝑛</m:t>
                          </m:r>
                        </m:e>
                        <m:sup>
                          <m:r>
                            <a:rPr lang="en-IN"/>
                            <m:t>1</m:t>
                          </m:r>
                        </m:sup>
                      </m:sSup>
                      <m:r>
                        <a:rPr lang="en-IN"/>
                        <m:t>=</m:t>
                      </m:r>
                      <m:r>
                        <a:rPr lang="en-IN" i="1"/>
                        <m:t>𝑛</m:t>
                      </m:r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we compare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5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42999"/>
                <a:ext cx="8322733" cy="3623733"/>
              </a:xfrm>
              <a:prstGeom prst="rect">
                <a:avLst/>
              </a:prstGeom>
              <a:blipFill>
                <a:blip r:embed="rId3"/>
                <a:stretch>
                  <a:fillRect l="-366" t="-336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 or Pseudocode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7594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follows these steps: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log_b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log_b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appropriate Master Theorem case.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final complexity.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systematic approach helps us solve any divide-and-conquer recurrence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Example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1"/>
              <p:cNvSpPr/>
              <p:nvPr/>
            </p:nvSpPr>
            <p:spPr>
              <a:xfrm>
                <a:off x="389467" y="649484"/>
                <a:ext cx="8297333" cy="4494015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IN" sz="1600" dirty="0"/>
                  <a:t>Let's understand this using an example where </a:t>
                </a:r>
                <a:r>
                  <a:rPr lang="en-IN" sz="1600" b="1" dirty="0"/>
                  <a:t>n = 8</a:t>
                </a:r>
                <a:r>
                  <a:rPr lang="en-IN" sz="1600" dirty="0"/>
                  <a:t>.</a:t>
                </a:r>
              </a:p>
              <a:p>
                <a:r>
                  <a:rPr lang="en-IN" sz="1600" dirty="0"/>
                  <a:t>Initially,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8</m:t>
                          </m:r>
                        </m:e>
                      </m:d>
                      <m:r>
                        <a:rPr lang="en-IN"/>
                        <m:t>=2</m:t>
                      </m:r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4</m:t>
                          </m:r>
                        </m:e>
                      </m:d>
                      <m:r>
                        <a:rPr lang="en-IN"/>
                        <m:t>+</m:t>
                      </m:r>
                      <m:func>
                        <m:funcPr>
                          <m:ctrlPr>
                            <a:rPr lang="en-IN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/>
                            <m:t>log</m:t>
                          </m:r>
                        </m:fName>
                        <m:e>
                          <m:r>
                            <a:rPr lang="en-IN"/>
                            <m:t>8</m:t>
                          </m:r>
                        </m:e>
                      </m:func>
                    </m:oMath>
                  </m:oMathPara>
                </a14:m>
                <a:endParaRPr lang="en-IN" sz="1600" dirty="0"/>
              </a:p>
              <a:p>
                <a:r>
                  <a:rPr lang="en-IN" sz="1600" dirty="0"/>
                  <a:t>Now expand </a:t>
                </a:r>
                <a:r>
                  <a:rPr lang="en-IN" sz="1600" b="1" dirty="0"/>
                  <a:t>T(4)</a:t>
                </a:r>
                <a:r>
                  <a:rPr lang="en-IN" sz="1600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4</m:t>
                          </m:r>
                        </m:e>
                      </m:d>
                      <m:r>
                        <a:rPr lang="en-IN"/>
                        <m:t>=2</m:t>
                      </m:r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2</m:t>
                          </m:r>
                        </m:e>
                      </m:d>
                      <m:r>
                        <a:rPr lang="en-IN"/>
                        <m:t>+</m:t>
                      </m:r>
                      <m:func>
                        <m:funcPr>
                          <m:ctrlPr>
                            <a:rPr lang="en-IN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/>
                            <m:t>log</m:t>
                          </m:r>
                        </m:fName>
                        <m:e>
                          <m:r>
                            <a:rPr lang="en-IN"/>
                            <m:t>4</m:t>
                          </m:r>
                        </m:e>
                      </m:func>
                    </m:oMath>
                  </m:oMathPara>
                </a14:m>
                <a:endParaRPr lang="en-IN" sz="1600" dirty="0"/>
              </a:p>
              <a:p>
                <a:r>
                  <a:rPr lang="en-IN" sz="1600" dirty="0"/>
                  <a:t>Substitute it back: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8</m:t>
                          </m:r>
                        </m:e>
                      </m:d>
                      <m:r>
                        <a:rPr lang="en-IN"/>
                        <m:t>=4</m:t>
                      </m:r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2</m:t>
                          </m:r>
                        </m:e>
                      </m:d>
                      <m:r>
                        <a:rPr lang="en-IN"/>
                        <m:t>+2</m:t>
                      </m:r>
                      <m:func>
                        <m:funcPr>
                          <m:ctrlPr>
                            <a:rPr lang="en-IN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/>
                            <m:t>log</m:t>
                          </m:r>
                        </m:fName>
                        <m:e>
                          <m:r>
                            <a:rPr lang="en-IN"/>
                            <m:t>4</m:t>
                          </m:r>
                        </m:e>
                      </m:func>
                      <m:r>
                        <a:rPr lang="en-IN"/>
                        <m:t>+</m:t>
                      </m:r>
                      <m:func>
                        <m:funcPr>
                          <m:ctrlPr>
                            <a:rPr lang="en-IN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/>
                            <m:t>log</m:t>
                          </m:r>
                        </m:fName>
                        <m:e>
                          <m:r>
                            <a:rPr lang="en-IN"/>
                            <m:t>8</m:t>
                          </m:r>
                        </m:e>
                      </m:func>
                    </m:oMath>
                  </m:oMathPara>
                </a14:m>
                <a:endParaRPr lang="en-IN" sz="1600" dirty="0"/>
              </a:p>
              <a:p>
                <a:r>
                  <a:rPr lang="en-IN" sz="1600" dirty="0"/>
                  <a:t>Now expand </a:t>
                </a:r>
                <a:r>
                  <a:rPr lang="en-IN" sz="1600" b="1" dirty="0"/>
                  <a:t>T(2)</a:t>
                </a:r>
                <a:r>
                  <a:rPr lang="en-IN" sz="1600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2</m:t>
                          </m:r>
                        </m:e>
                      </m:d>
                      <m:r>
                        <a:rPr lang="en-IN"/>
                        <m:t>=2</m:t>
                      </m:r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1</m:t>
                          </m:r>
                        </m:e>
                      </m:d>
                      <m:r>
                        <a:rPr lang="en-IN"/>
                        <m:t>+</m:t>
                      </m:r>
                      <m:func>
                        <m:funcPr>
                          <m:ctrlPr>
                            <a:rPr lang="en-IN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/>
                            <m:t>log</m:t>
                          </m:r>
                        </m:fName>
                        <m:e>
                          <m:r>
                            <a:rPr lang="en-IN"/>
                            <m:t>2</m:t>
                          </m:r>
                        </m:e>
                      </m:func>
                    </m:oMath>
                  </m:oMathPara>
                </a14:m>
                <a:endParaRPr lang="en-IN" sz="1600" dirty="0"/>
              </a:p>
              <a:p>
                <a:r>
                  <a:rPr lang="en-IN" sz="1600" dirty="0"/>
                  <a:t>Finally,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8</m:t>
                          </m:r>
                        </m:e>
                      </m:d>
                      <m:r>
                        <a:rPr lang="en-IN"/>
                        <m:t>=8</m:t>
                      </m:r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1</m:t>
                          </m:r>
                        </m:e>
                      </m:d>
                      <m:r>
                        <a:rPr lang="en-IN"/>
                        <m:t>+4</m:t>
                      </m:r>
                      <m:func>
                        <m:funcPr>
                          <m:ctrlPr>
                            <a:rPr lang="en-IN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/>
                            <m:t>log</m:t>
                          </m:r>
                        </m:fName>
                        <m:e>
                          <m:r>
                            <a:rPr lang="en-IN"/>
                            <m:t>2</m:t>
                          </m:r>
                        </m:e>
                      </m:func>
                      <m:r>
                        <a:rPr lang="en-IN"/>
                        <m:t>+2</m:t>
                      </m:r>
                      <m:func>
                        <m:funcPr>
                          <m:ctrlPr>
                            <a:rPr lang="en-IN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/>
                            <m:t>log</m:t>
                          </m:r>
                        </m:fName>
                        <m:e>
                          <m:r>
                            <a:rPr lang="en-IN"/>
                            <m:t>4</m:t>
                          </m:r>
                        </m:e>
                      </m:func>
                      <m:r>
                        <a:rPr lang="en-IN"/>
                        <m:t>+</m:t>
                      </m:r>
                      <m:func>
                        <m:funcPr>
                          <m:ctrlPr>
                            <a:rPr lang="en-IN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/>
                            <m:t>log</m:t>
                          </m:r>
                        </m:fName>
                        <m:e>
                          <m:r>
                            <a:rPr lang="en-IN"/>
                            <m:t>8</m:t>
                          </m:r>
                        </m:e>
                      </m:func>
                    </m:oMath>
                  </m:oMathPara>
                </a14:m>
                <a:endParaRPr lang="en-IN" sz="1600" dirty="0"/>
              </a:p>
              <a:p>
                <a:r>
                  <a:rPr lang="en-IN" sz="1600" dirty="0"/>
                  <a:t>If we assume </a:t>
                </a:r>
                <a:r>
                  <a:rPr lang="en-IN" sz="1600" b="1" dirty="0"/>
                  <a:t>T(1)=1</a:t>
                </a:r>
                <a:r>
                  <a:rPr lang="en-IN" sz="1600" dirty="0"/>
                  <a:t>, then:</a:t>
                </a:r>
              </a:p>
              <a:p>
                <a:r>
                  <a:rPr lang="en-IN" sz="1600" dirty="0"/>
                  <a:t>log₂2 = 1 </a:t>
                </a:r>
              </a:p>
              <a:p>
                <a:r>
                  <a:rPr lang="en-IN" sz="1600" dirty="0"/>
                  <a:t>log₂4 = 2 </a:t>
                </a:r>
              </a:p>
              <a:p>
                <a:r>
                  <a:rPr lang="en-IN" sz="1600" dirty="0"/>
                  <a:t>log₂8 = 3 </a:t>
                </a:r>
              </a:p>
              <a:p>
                <a:r>
                  <a:rPr lang="en-IN" sz="1600" dirty="0"/>
                  <a:t>So,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8</m:t>
                          </m:r>
                        </m:e>
                      </m:d>
                      <m:r>
                        <a:rPr lang="en-IN"/>
                        <m:t>=8+4+4+3=19</m:t>
                      </m:r>
                    </m:oMath>
                  </m:oMathPara>
                </a14:m>
                <a:endParaRPr lang="en-IN" sz="1600" dirty="0"/>
              </a:p>
              <a:p>
                <a:endParaRPr lang="en-IN" sz="1600" dirty="0"/>
              </a:p>
            </p:txBody>
          </p:sp>
        </mc:Choice>
        <mc:Fallback>
          <p:sp>
            <p:nvSpPr>
              <p:cNvPr id="5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67" y="649484"/>
                <a:ext cx="8297333" cy="4494015"/>
              </a:xfrm>
              <a:prstGeom prst="rect">
                <a:avLst/>
              </a:prstGeom>
              <a:blipFill>
                <a:blip r:embed="rId3"/>
                <a:stretch>
                  <a:fillRect l="-441" t="-407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AD01471-7D4A-1F3E-52CA-260D363584A5}"/>
              </a:ext>
            </a:extLst>
          </p:cNvPr>
          <p:cNvSpPr txBox="1"/>
          <p:nvPr/>
        </p:nvSpPr>
        <p:spPr>
          <a:xfrm rot="10800000" flipH="1" flipV="1">
            <a:off x="4122421" y="2196583"/>
            <a:ext cx="448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the recurrence T(n) = 2T(n/2) + O(log n), identify a = 2, b = 2, and f(n) = O(log n).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n^{log_b a} which equals n^{log_2 2} = n^1 = 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f(n) with n^{log_b a} to determine the case of the theorem.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Analysis</a:t>
            </a: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57200" y="1422400"/>
            <a:ext cx="8432800" cy="292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Since f(n) = O(log n), which grows more slowly than n^{log_b a} = n, it falls under Case 1 of the Master Theorem.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1 states that if f(n) = O(n^{log_b a - ε}) for some ε &gt; 0, then T(n) = Θ(n^{log_b a}).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Therefore, T(n) = Θ(n).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051560"/>
            <a:ext cx="783166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 relations like this are common in divide-and-conquer algorithms.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include: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analysis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 algorithms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computing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searching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performance analysis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Master Theorem helps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algorithms quickly.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1"/>
              <p:cNvSpPr/>
              <p:nvPr/>
            </p:nvSpPr>
            <p:spPr>
              <a:xfrm>
                <a:off x="457200" y="1051560"/>
                <a:ext cx="8229600" cy="32004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recursion continues until the input size becomes 1.</a:t>
                </a: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recursion depth is: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/>
                            <m:t>log</m:t>
                          </m:r>
                        </m:e>
                        <m:sub>
                          <m:r>
                            <a:rPr lang="en-IN"/>
                            <m:t>2</m:t>
                          </m:r>
                        </m:sub>
                      </m:sSub>
                      <m:r>
                        <a:rPr lang="en-IN" i="1"/>
                        <m:t>𝑛</m:t>
                      </m:r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 though each level performs only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extra work, the total work done by all recursive calls dominates.</a:t>
                </a: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the overall running time becomes: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/>
                        <m:t>Θ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the algorithm is efficient because its running time increases linearly as the input grows.</a:t>
                </a: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51560"/>
                <a:ext cx="8229600" cy="3200400"/>
              </a:xfrm>
              <a:prstGeom prst="rect">
                <a:avLst/>
              </a:prstGeom>
              <a:blipFill>
                <a:blip r:embed="rId3"/>
                <a:stretch>
                  <a:fillRect l="-370" t="-571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607594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log 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Case 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Time Complexity: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Computer Algorithms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Horowitz &amp; Sahni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22140-4938-EE28-5461-118A160B66C7}"/>
              </a:ext>
            </a:extLst>
          </p:cNvPr>
          <p:cNvSpPr txBox="1"/>
          <p:nvPr/>
        </p:nvSpPr>
        <p:spPr>
          <a:xfrm>
            <a:off x="388620" y="543282"/>
            <a:ext cx="70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References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E70CE7-B46A-F3D4-1050-50B12FF08646}"/>
              </a:ext>
            </a:extLst>
          </p:cNvPr>
          <p:cNvSpPr txBox="1"/>
          <p:nvPr/>
        </p:nvSpPr>
        <p:spPr>
          <a:xfrm>
            <a:off x="792480" y="1786920"/>
            <a:ext cx="7909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40352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788</Words>
  <Application>Microsoft Office PowerPoint</Application>
  <PresentationFormat>On-screen Show (16:9)</PresentationFormat>
  <Paragraphs>119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Theorem Application For Logarithmic Combine Cost Consider The Recurrence Relation T(n) = 2T(n</dc:title>
  <dc:subject>Master Theorem Application For Logarithmic Combine Cost Consider The Recurrence Relation T(n) = 2T(n</dc:subject>
  <dc:creator>SlideMake.com</dc:creator>
  <cp:lastModifiedBy>cheruvu shahanaj</cp:lastModifiedBy>
  <cp:revision>2</cp:revision>
  <dcterms:created xsi:type="dcterms:W3CDTF">2026-07-20T02:42:10Z</dcterms:created>
  <dcterms:modified xsi:type="dcterms:W3CDTF">2026-07-20T05:56:48Z</dcterms:modified>
</cp:coreProperties>
</file>